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55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67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Consolas"/>
              </a:rPr>
              <a:t>BSides Vancouver  · 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Trebuchet MS"/>
              </a:rPr>
              <a:t>The Last-Minute Badge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F0883E"/>
                </a:solidFill>
                <a:latin typeface="Trebuchet MS"/>
              </a:rPr>
              <a:t>That Actually Worked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7EE787"/>
                </a:solidFill>
                <a:latin typeface="Consolas"/>
              </a:rPr>
              <a:t>▌ Software Edition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46320"/>
            <a:ext cx="6858000" cy="1188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6583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rebuchet MS"/>
              </a:rPr>
              <a:t>Nick Maltchev   ·   Mirai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85232"/>
            <a:ext cx="65836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8B949E"/>
                </a:solidFill>
                <a:latin typeface="Calibri"/>
              </a:rPr>
              <a:t>Sandy — original </a:t>
            </a:r>
            <a:r>
              <a:rPr lang="en-US" sz="1300" dirty="0">
                <a:solidFill>
                  <a:srgbClr val="8B949E"/>
                </a:solidFill>
                <a:latin typeface="Calibri"/>
              </a:rPr>
              <a:t>design and firmware </a:t>
            </a:r>
            <a:r>
              <a:rPr sz="1300" b="0" i="0" dirty="0">
                <a:solidFill>
                  <a:srgbClr val="8B949E"/>
                </a:solidFill>
                <a:latin typeface="Calibri"/>
              </a:rPr>
              <a:t>PoC.   Kirk — hardware</a:t>
            </a:r>
            <a:r>
              <a:rPr lang="en-US" sz="1300" b="0" i="0" dirty="0">
                <a:solidFill>
                  <a:srgbClr val="8B949E"/>
                </a:solidFill>
                <a:latin typeface="Calibri"/>
              </a:rPr>
              <a:t> engineering</a:t>
            </a:r>
            <a:r>
              <a:rPr sz="1300" b="0" i="0" dirty="0">
                <a:solidFill>
                  <a:srgbClr val="8B949E"/>
                </a:solidFill>
                <a:latin typeface="Calibri"/>
              </a:rPr>
              <a:t>.   Nick — firmware</a:t>
            </a:r>
            <a:r>
              <a:rPr lang="en-US" sz="1300" b="0" i="0" dirty="0">
                <a:solidFill>
                  <a:srgbClr val="8B949E"/>
                </a:solidFill>
                <a:latin typeface="Calibri"/>
              </a:rPr>
              <a:t> 2.0.</a:t>
            </a:r>
            <a:endParaRPr sz="1300" b="0" i="0" dirty="0">
              <a:solidFill>
                <a:srgbClr val="8B949E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0" y="4846320"/>
            <a:ext cx="3200400" cy="1188720"/>
          </a:xfrm>
          <a:prstGeom prst="rect">
            <a:avLst/>
          </a:prstGeom>
          <a:solidFill>
            <a:srgbClr val="161B22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49377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  <a:latin typeface="Consolas"/>
              </a:rPr>
              <a:t>Sun  May 31,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52852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onsolas"/>
              </a:rPr>
              <a:t>9:30 — 11:30 PDT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560527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onsolas"/>
              </a:rPr>
              <a:t>Room 1700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What you're here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3949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  <a:latin typeface="Trebuchet M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4884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rebuchet MS"/>
              </a:rPr>
              <a:t>A working badge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697480"/>
            <a:ext cx="4206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Yours to keep.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828800"/>
            <a:ext cx="53949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629400" y="214884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1488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  <a:latin typeface="Trebuchet MS"/>
              </a:rPr>
              <a:t>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14884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rebuchet MS"/>
              </a:rPr>
              <a:t>Source + schematic + binaries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697480"/>
            <a:ext cx="4206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Everything on GitHub.  MIT licensed.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60520"/>
            <a:ext cx="53949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" y="44805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  <a:latin typeface="Trebuchet MS"/>
              </a:rPr>
              <a:t>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48056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rebuchet MS"/>
              </a:rPr>
              <a:t>A mental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029200"/>
            <a:ext cx="4206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What the firmware does, where to change it, and where the landmines are.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4160520"/>
            <a:ext cx="5394960" cy="2103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629400" y="44805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44805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  <a:latin typeface="Trebuchet MS"/>
              </a:rPr>
              <a:t>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48056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Trebuchet MS"/>
              </a:rPr>
              <a:t>A sandbox to break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5029200"/>
            <a:ext cx="4206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A starter template that builds out of the box, plus the full firmware to extend.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355080"/>
            <a:ext cx="11091672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35508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7EE787"/>
                </a:solidFill>
                <a:latin typeface="Consolas"/>
              </a:rPr>
              <a:t>❯  github.com/maltchev/bsides-vancouver-badge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The hardware in one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0" y="2743200"/>
            <a:ext cx="3017520" cy="15544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2907792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  <a:latin typeface="Trebuchet MS"/>
              </a:rPr>
              <a:t>ESP32-C3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2918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onsolas"/>
              </a:rPr>
              <a:t>RISC-V  ·  160 MHz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6118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0D1117"/>
                </a:solidFill>
                <a:latin typeface="Consolas"/>
              </a:rPr>
              <a:t>4 MB flash  ·  WiFi / 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91363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0D1117"/>
                </a:solidFill>
                <a:latin typeface="Consolas"/>
              </a:rPr>
              <a:t>on-chip USB Serial / JTAG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2606040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80136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  <a:latin typeface="Trebuchet MS"/>
              </a:rPr>
              <a:t>ST25R3911B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14884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Calibri"/>
              </a:rPr>
              <a:t>NFC reader  ·  13.56 MHz  ·  SPI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2606040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08152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  <a:latin typeface="Trebuchet MS"/>
              </a:rPr>
              <a:t>5 × WS2812B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4290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Calibri"/>
              </a:rPr>
              <a:t>addressable RGB chain  ·  1 GPIO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51960"/>
            <a:ext cx="2606040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436168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  <a:latin typeface="Trebuchet MS"/>
              </a:rPr>
              <a:t>Charlieplex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70916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Calibri"/>
              </a:rPr>
              <a:t>6 LEDs through 3 GPIOs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691640"/>
            <a:ext cx="2606040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08592" y="180136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  <a:latin typeface="Trebuchet MS"/>
              </a:rPr>
              <a:t>Hall MGH201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214884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Calibri"/>
              </a:rPr>
              <a:t>bipolar latch  ·  active-LOW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971800"/>
            <a:ext cx="2606040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08592" y="308152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  <a:latin typeface="Trebuchet MS"/>
              </a:rPr>
              <a:t>ALS-PT19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34290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Calibri"/>
              </a:rPr>
              <a:t>ambient light  ·  analog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4251960"/>
            <a:ext cx="2606040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08592" y="4361688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  <a:latin typeface="Trebuchet MS"/>
              </a:rPr>
              <a:t>BTN1 / BTN2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470916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  <a:latin typeface="Calibri"/>
              </a:rPr>
              <a:t>BTN2 wakes from sleep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154680" y="0"/>
            <a:ext cx="1417320" cy="0"/>
          </a:xfrm>
          <a:prstGeom prst="line">
            <a:avLst/>
          </a:prstGeom>
          <a:ln w="12700">
            <a:solidFill>
              <a:srgbClr val="3036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154680" y="0"/>
            <a:ext cx="1417320" cy="0"/>
          </a:xfrm>
          <a:prstGeom prst="line">
            <a:avLst/>
          </a:prstGeom>
          <a:ln w="12700">
            <a:solidFill>
              <a:srgbClr val="3036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154680" y="0"/>
            <a:ext cx="1417320" cy="0"/>
          </a:xfrm>
          <a:prstGeom prst="line">
            <a:avLst/>
          </a:prstGeom>
          <a:ln w="12700">
            <a:solidFill>
              <a:srgbClr val="3036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7589520" y="0"/>
            <a:ext cx="1554480" cy="0"/>
          </a:xfrm>
          <a:prstGeom prst="line">
            <a:avLst/>
          </a:prstGeom>
          <a:ln w="12700">
            <a:solidFill>
              <a:srgbClr val="3036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589520" y="0"/>
            <a:ext cx="1554480" cy="0"/>
          </a:xfrm>
          <a:prstGeom prst="line">
            <a:avLst/>
          </a:prstGeom>
          <a:ln w="12700">
            <a:solidFill>
              <a:srgbClr val="3036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7589520" y="0"/>
            <a:ext cx="1554480" cy="0"/>
          </a:xfrm>
          <a:prstGeom prst="line">
            <a:avLst/>
          </a:prstGeom>
          <a:ln w="12700">
            <a:solidFill>
              <a:srgbClr val="3036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  <a:latin typeface="Consolas"/>
              </a:rPr>
              <a:t>Power:   USB Type-A   ·   2 × CR2032 in parallel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Why these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91672" cy="594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926080" cy="59436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Consolas"/>
              </a:rP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779983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Consolas"/>
              </a:rPr>
              <a:t>WHY THIS PART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11091672" cy="594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  <a:latin typeface="Consolas"/>
              </a:rPr>
              <a:t>ESP32-C3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514600"/>
            <a:ext cx="779983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RISC-V, on-chip USB Serial / JTAG, WiFi + BLE, ~$1.50 in quantity.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82112"/>
            <a:ext cx="11091672" cy="594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182112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  <a:latin typeface="Consolas"/>
              </a:rPr>
              <a:t>ST25R3911B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182112"/>
            <a:ext cx="779983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Full NFC reader IC.  Reads cheap printable NFC-V cards.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49624"/>
            <a:ext cx="11091672" cy="594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849624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  <a:latin typeface="Consolas"/>
              </a:rPr>
              <a:t>WS2812B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849624"/>
            <a:ext cx="779983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One GPIO drives the whole RGB chain.  ~60 mA per LED at full white.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1672" cy="594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517136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  <a:latin typeface="Consolas"/>
              </a:rPr>
              <a:t>Charlieplex LEDs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517136"/>
            <a:ext cx="779983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3 GPIOs drive 6 LEDs.  Saves pins and BOM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84648"/>
            <a:ext cx="11091672" cy="594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184648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  <a:latin typeface="Consolas"/>
              </a:rPr>
              <a:t>MGH201A1T3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5184648"/>
            <a:ext cx="779983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Bipolar Hall latch.  (Behaviour covered later — it surprised us.)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852160"/>
            <a:ext cx="11091672" cy="594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852160"/>
            <a:ext cx="2651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  <a:latin typeface="Consolas"/>
              </a:rPr>
              <a:t>2 × CR2032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852160"/>
            <a:ext cx="779983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Wearable power.  (Coin-cell brownout covered later.)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The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8503920" cy="868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1828800"/>
            <a:ext cx="109728" cy="8686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48840" y="192024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58A6FF"/>
                </a:solidFill>
                <a:latin typeface="Trebuchet MS"/>
              </a:rPr>
              <a:t>YOUR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28600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onsolas"/>
              </a:rPr>
              <a:t>main.cpp · badge_state · wifi_portal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807208"/>
            <a:ext cx="8503920" cy="868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28800" y="2807208"/>
            <a:ext cx="109728" cy="868680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48840" y="2898648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7EE787"/>
                </a:solidFill>
                <a:latin typeface="Trebuchet MS"/>
              </a:rPr>
              <a:t>ARDUINO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264408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onsolas"/>
              </a:rPr>
              <a:t>digitalRead, delay, FastLED, RMT5 driver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785616"/>
            <a:ext cx="8503920" cy="868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28800" y="3785616"/>
            <a:ext cx="109728" cy="868680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48840" y="3877056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0883E"/>
                </a:solidFill>
                <a:latin typeface="Trebuchet MS"/>
              </a:rPr>
              <a:t>ST NFC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242816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onsolas"/>
              </a:rPr>
              <a:t>RFAL + ST25R3911B driver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764024"/>
            <a:ext cx="8503920" cy="868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28800" y="4764024"/>
            <a:ext cx="109728" cy="868680"/>
          </a:xfrm>
          <a:prstGeom prst="rect">
            <a:avLst/>
          </a:prstGeom>
          <a:solidFill>
            <a:srgbClr val="D2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48840" y="4855464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2A8FF"/>
                </a:solidFill>
                <a:latin typeface="Trebuchet MS"/>
              </a:rPr>
              <a:t>ESP-IDF v5.4.1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5221224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onsolas"/>
              </a:rPr>
              <a:t>FreeRTOS · lwIP · esp_wifi · http_server · NVS · sleep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Repository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91672" cy="4206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10762488" cy="3986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bsides-vancouver-badge/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├── README.md   LICENSE   CHANGELOG.md     ← project metadata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├── version.txt                            ← human-readable firmware version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├── CMakeLists.txt   sdkconfig.defaults    ← ESP-IDF project root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│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├── main/                                  ← the workshop firmware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│   ├── main.cpp           ← entry, main loop, NFC + sensors + LEDs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│   ├── project_pins.h     ← pin map + tunable constants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│   ├── badge_state.h/.cpp ← NVS persistence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│   └── wifi_portal.h/.cpp ← optional WiFi AP + control panel + CTF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│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├── components/                            ← vendored: Arduino, FastLED, NFC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│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├── starter-template/                      ← blank canvas — your sandbox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├── prebuilt/2025-production/              ← last year's firmware as .bin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└── docs/                                  ← BUILDING / HARDWARE / SOFTWARE / NFC_TAGS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Boot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783080"/>
            <a:ext cx="1033272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EE787"/>
                </a:solidFill>
                <a:latin typeface="Consolas"/>
              </a:rPr>
              <a:t>initArduino()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78308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bring up Arduino layer (delay, digitalRead…)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2331720"/>
            <a:ext cx="1033272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EE787"/>
                </a:solidFill>
                <a:latin typeface="Consolas"/>
              </a:rPr>
              <a:t>log reset reason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33172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POWERON · BROWNOUT · PANIC — useful when things go wrong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2880360"/>
            <a:ext cx="1033272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288036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EE787"/>
                </a:solidFill>
                <a:latin typeface="Consolas"/>
              </a:rPr>
              <a:t>BTN2 held? wipeAll()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88036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hard-reset escape hatch — flash red while held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Trebuchet M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3429000"/>
            <a:ext cx="1033272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63040" y="342900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EE787"/>
                </a:solidFill>
                <a:latin typeface="Consolas"/>
              </a:rPr>
              <a:t>pinMode + FastLED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42900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every peripheral configured  ·  rainbow boot show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Trebuchet MS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160" y="3977640"/>
            <a:ext cx="1033272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63040" y="397764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EE787"/>
                </a:solidFill>
                <a:latin typeface="Consolas"/>
              </a:rPr>
              <a:t>BadgeState::restoreAll()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397764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NVS → live state (colors, attendance, brightness)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Trebuchet MS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4526280"/>
            <a:ext cx="1033272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63040" y="452628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EE787"/>
                </a:solidFill>
                <a:latin typeface="Consolas"/>
              </a:rPr>
              <a:t>checkAndApplyMasterUnlock()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452628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if all challenges done, light RGB[3] BSides-orange</a:t>
            </a:r>
          </a:p>
        </p:txBody>
      </p:sp>
      <p:sp>
        <p:nvSpPr>
          <p:cNvPr id="35" name="Oval 34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Trebuchet MS"/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0" y="5074920"/>
            <a:ext cx="1033272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463040" y="507492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EE787"/>
                </a:solidFill>
                <a:latin typeface="Consolas"/>
              </a:rPr>
              <a:t>rfal_nfc.rfalNfcInitialize()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507492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bring up NFC reader — TX power written separately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" y="5623560"/>
            <a:ext cx="502920" cy="502920"/>
          </a:xfrm>
          <a:prstGeom prst="ellipse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56235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Trebuchet MS"/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80160" y="5623560"/>
            <a:ext cx="10332720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463040" y="562356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7EE787"/>
                </a:solidFill>
                <a:latin typeface="Consolas"/>
              </a:rPr>
              <a:t>for (;;) loop();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562356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into the main loop, forever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The main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6949440" cy="4023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6620256" cy="3803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void loop() {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refreshAwakeIndicator();     // RGB[0] green or blue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drainCtfFlag();              // celebrate if CTF was solved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checkHallEffectSensor();     // magnet present? update HALL_LED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checkLuxSensor();            // bright / dark / hold puzzle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CLEDDisplay();               // refresh one charlieplex slot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checkButtons();              // BTN1 scan, BTN2 activity / WiFi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handleSleepGating();         // inactivity / pocket sleep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rfal_nfc.rfalNfcWorker();    // NFC stack background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runNfcStateMachine();        // discovery → tag → done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1828800"/>
            <a:ext cx="3913632" cy="4023360"/>
          </a:xfrm>
          <a:prstGeom prst="rect">
            <a:avLst/>
          </a:prstGeom>
          <a:solidFill>
            <a:srgbClr val="161B22"/>
          </a:solidFill>
          <a:ln w="15875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09560" y="19659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0883E"/>
                </a:solidFill>
                <a:latin typeface="Trebuchet MS"/>
              </a:rPr>
              <a:t>Single thread.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423160"/>
            <a:ext cx="36576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No FreeRTOS tasks of our own.
Eight calls, in order, every iteration.
Trade-off:  a slow function stalls
the rest.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State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NVS namespace  'badge'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217920" cy="4114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5888736" cy="3895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namespace BadgeState {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void restoreAll();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void saveTeamColours();           // RGB[1], RGB[4]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void savePresentationProgress();  // counter + bits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void saveMalwareFlag();           // V-tag attendance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void saveBrightness();            // 0..255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void saveRgb1() / saveRgb3() / saveRgb4();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bool firstBootCheckComplete();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void markFirstBootCheckComplete();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void wipeAll();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828800"/>
            <a:ext cx="4645152" cy="4114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78040" y="196596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  <a:latin typeface="Trebuchet MS"/>
              </a:rPr>
              <a:t>Design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377440"/>
            <a:ext cx="42976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Every save is write-through.
Keys match the v1 firmware byte-for-byte
— a v1 badge keeps its state when
re-flashed with v2.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Configuration knobs  ·  project_pins.h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91672" cy="3383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10762488" cy="3163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onsolas"/>
              </a:rPr>
              <a:t>#define INACTIVITY_TIMEOUT_S    60       // idle seconds before light sleep</a:t>
            </a:r>
          </a:p>
          <a:p>
            <a:pPr algn="l"/>
            <a:r>
              <a:rPr sz="1400" b="0" i="0">
                <a:solidFill>
                  <a:srgbClr val="8B949E"/>
                </a:solidFill>
                <a:latin typeface="Consolas"/>
              </a:rPr>
              <a:t>#define HALL_HOLD_DURATION_MS   2500     // hold magnet this long → puzzle fires</a:t>
            </a:r>
          </a:p>
          <a:p>
            <a:pPr algn="l"/>
            <a:r>
              <a:rPr sz="1400" b="0" i="0">
                <a:solidFill>
                  <a:srgbClr val="8B949E"/>
                </a:solidFill>
                <a:latin typeface="Consolas"/>
              </a:rPr>
              <a:t>#define HALL_DEBOUNCE_MS        200      // filter stray magnetic fields</a:t>
            </a:r>
          </a:p>
          <a:p>
            <a:pPr algn="l"/>
            <a:r>
              <a:rPr sz="1400" b="0" i="0">
                <a:solidFill>
                  <a:srgbClr val="8B949E"/>
                </a:solidFill>
                <a:latin typeface="Consolas"/>
              </a:rPr>
              <a:t>#define LUX_DARK_THRESHOLD      120      // analog &lt; this = covered</a:t>
            </a:r>
          </a:p>
          <a:p>
            <a:pPr algn="l"/>
            <a:r>
              <a:rPr sz="1400" b="0" i="0">
                <a:solidFill>
                  <a:srgbClr val="8B949E"/>
                </a:solidFill>
                <a:latin typeface="Consolas"/>
              </a:rPr>
              <a:t>#define LUX_POCKET_SLEEP_MS     60000    // dark this long → in-pocket sleep</a:t>
            </a:r>
          </a:p>
          <a:p>
            <a:pPr algn="l"/>
            <a:r>
              <a:rPr sz="1400" b="0" i="0">
                <a:solidFill>
                  <a:srgbClr val="7EE787"/>
                </a:solidFill>
                <a:latin typeface="Consolas"/>
              </a:rPr>
              <a:t> </a:t>
            </a:r>
          </a:p>
          <a:p>
            <a:pPr algn="l"/>
            <a:r>
              <a:rPr sz="1400" b="0" i="0">
                <a:solidFill>
                  <a:srgbClr val="8B949E"/>
                </a:solidFill>
                <a:latin typeface="Consolas"/>
              </a:rPr>
              <a:t>#define BADGE_DEBUG_NO_SLEEP    0        // 1 = disable sleep (USB monitor)</a:t>
            </a:r>
          </a:p>
          <a:p>
            <a:pPr algn="l"/>
            <a:r>
              <a:rPr sz="1400" b="0" i="0">
                <a:solidFill>
                  <a:srgbClr val="8B949E"/>
                </a:solidFill>
                <a:latin typeface="Consolas"/>
              </a:rPr>
              <a:t>#define BADGE_LOW_POWER         0        // 1 = skip NFC + drop to 80 MHz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86400"/>
            <a:ext cx="5440680" cy="640080"/>
          </a:xfrm>
          <a:prstGeom prst="rect">
            <a:avLst/>
          </a:prstGeom>
          <a:solidFill>
            <a:srgbClr val="161B22"/>
          </a:solidFill>
          <a:ln w="15875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48640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0883E"/>
                </a:solidFill>
                <a:latin typeface="Consolas"/>
              </a:rPr>
              <a:t>DEBUG_NO_SLEEP = 1   ·   serial-monitor 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5486400"/>
            <a:ext cx="5422392" cy="640080"/>
          </a:xfrm>
          <a:prstGeom prst="rect">
            <a:avLst/>
          </a:prstGeom>
          <a:solidFill>
            <a:srgbClr val="161B22"/>
          </a:solidFill>
          <a:ln w="15875">
            <a:solidFill>
              <a:srgbClr val="D2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5486400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D2A8FF"/>
                </a:solidFill>
                <a:latin typeface="Consolas"/>
              </a:rPr>
              <a:t>LOW_POWER = 1   ·   coin-cell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554480" cy="411480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554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Trebuchet MS"/>
              </a:rPr>
              <a:t>WAR  STORY 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114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The NDEF crash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8686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First card scanned after the v2 refactor → fault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486400" cy="4206240"/>
          </a:xfrm>
          <a:prstGeom prst="rect">
            <a:avLst/>
          </a:prstGeom>
          <a:solidFill>
            <a:srgbClr val="161B22"/>
          </a:solidFill>
          <a:ln w="15875">
            <a:solidFill>
              <a:srgbClr val="FF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7B72"/>
                </a:solidFill>
                <a:latin typeface="Consolas"/>
              </a:rPr>
              <a:t>✖  Guru Meditation Error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5029200" cy="33832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441448"/>
            <a:ext cx="4700016" cy="3163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  MTVAL=0x000005fc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  ndefT5TPollerAccessMode line 149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 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Backtrace: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  ndefPollerReadRawMessage()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  ndefT5TReadCC()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  ndefT5TPollerAccessMode()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5394960" cy="4206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58A6FF"/>
                </a:solidFill>
                <a:latin typeface="Trebuchet MS"/>
              </a:rPr>
              <a:t>What was happening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502920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The constructor wrote a  this  pointer
to ONE offset inside  ndefContext.
The library tried to read it back
from a DIFFERENT offset.
Two translation units disagreed on
the layout of the same struct.
Classic C++ ODR violation.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554480" cy="411480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554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Trebuchet MS"/>
              </a:rPr>
              <a:t>WAR  STORY 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114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The fix:  one line of CMake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8686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Force both translation units to compile with the same feature flags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  <a:latin typeface="Consolas"/>
              </a:rPr>
              <a:t>main/  — our custom flags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0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121408"/>
            <a:ext cx="5157216" cy="1792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onsolas"/>
              </a:rPr>
              <a:t>#define RFAL_FEATURE_LISTEN_MODE        false</a:t>
            </a:r>
          </a:p>
          <a:p>
            <a:pPr algn="l"/>
            <a:r>
              <a:rPr sz="1200" b="0" i="0">
                <a:solidFill>
                  <a:srgbClr val="8B949E"/>
                </a:solidFill>
                <a:latin typeface="Consolas"/>
              </a:rPr>
              <a:t>#define RFAL_FEATURE_WAKEUP_MODE        true</a:t>
            </a:r>
          </a:p>
          <a:p>
            <a:pPr algn="l"/>
            <a:r>
              <a:rPr sz="1200" b="0" i="0">
                <a:solidFill>
                  <a:srgbClr val="8B949E"/>
                </a:solidFill>
                <a:latin typeface="Consolas"/>
              </a:rPr>
              <a:t>#define RFAL_FEATURE_ISO_DEP_LISTEN     false</a:t>
            </a:r>
          </a:p>
          <a:p>
            <a:pPr algn="l"/>
            <a:r>
              <a:rPr sz="1200" b="0" i="0">
                <a:solidFill>
                  <a:srgbClr val="8B949E"/>
                </a:solidFill>
                <a:latin typeface="Consolas"/>
              </a:rPr>
              <a:t>#define RFAL_FEATURE_ISO_DEP_APDU_MAX   1024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0883E"/>
                </a:solidFill>
                <a:latin typeface="Consolas"/>
              </a:rPr>
              <a:t>components/NFC_RFAL/  — library 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011680"/>
            <a:ext cx="5394960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2121408"/>
            <a:ext cx="5065776" cy="1792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onsolas"/>
              </a:rPr>
              <a:t>#define RFAL_FEATURE_LISTEN_MODE        true</a:t>
            </a:r>
          </a:p>
          <a:p>
            <a:pPr algn="l"/>
            <a:r>
              <a:rPr sz="1200" b="0" i="0">
                <a:solidFill>
                  <a:srgbClr val="8B949E"/>
                </a:solidFill>
                <a:latin typeface="Consolas"/>
              </a:rPr>
              <a:t>#define RFAL_FEATURE_WAKEUP_MODE        false</a:t>
            </a:r>
          </a:p>
          <a:p>
            <a:pPr algn="l"/>
            <a:r>
              <a:rPr sz="1200" b="0" i="0">
                <a:solidFill>
                  <a:srgbClr val="8B949E"/>
                </a:solidFill>
                <a:latin typeface="Consolas"/>
              </a:rPr>
              <a:t>#define RFAL_FEATURE_ISO_DEP_LISTEN     true</a:t>
            </a:r>
          </a:p>
          <a:p>
            <a:pPr algn="l"/>
            <a:r>
              <a:rPr sz="1200" b="0" i="0">
                <a:solidFill>
                  <a:srgbClr val="8B949E"/>
                </a:solidFill>
                <a:latin typeface="Consolas"/>
              </a:rPr>
              <a:t>#define RFAL_FEATURE_ISO_DEP_APDU_MAX   512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Add main/ to the library's private include path: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09160"/>
            <a:ext cx="11091672" cy="1280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4818888"/>
            <a:ext cx="10762488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onsolas"/>
              </a:rPr>
              <a:t># components/NFC_RFAL/CMakeLists.txt</a:t>
            </a:r>
          </a:p>
          <a:p>
            <a:pPr algn="l"/>
            <a:r>
              <a:rPr sz="1400" b="0" i="0">
                <a:solidFill>
                  <a:srgbClr val="7EE787"/>
                </a:solidFill>
                <a:latin typeface="Consolas"/>
              </a:rPr>
              <a:t>set(priv_includedirs ${CMAKE_CURRENT_LIST_DIR}/../../main)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554480" cy="411480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554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Trebuchet MS"/>
              </a:rPr>
              <a:t>WAR  STORY  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114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The Hall sensor that wouldn't let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8686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We assumed a unipolar switch.  We got a bipolar latch.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1091672" cy="64008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  <a:latin typeface="Consolas"/>
              </a:rPr>
              <a:t>WHAT YOU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828800"/>
            <a:ext cx="56967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  <a:latin typeface="Consolas"/>
              </a:rPr>
              <a:t>WHAT THE PIN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42032"/>
            <a:ext cx="11091672" cy="640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542032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C9D1D9"/>
                </a:solidFill>
                <a:latin typeface="Calibri"/>
              </a:rPr>
              <a:t>S-pole magnet near sensor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542032"/>
            <a:ext cx="56967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7EE787"/>
                </a:solidFill>
                <a:latin typeface="Consolas"/>
              </a:rPr>
              <a:t>line pulled 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55264"/>
            <a:ext cx="11091672" cy="640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255264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C9D1D9"/>
                </a:solidFill>
                <a:latin typeface="Calibri"/>
              </a:rPr>
              <a:t>Magnet removed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255264"/>
            <a:ext cx="56967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7B72"/>
                </a:solidFill>
                <a:latin typeface="Consolas"/>
              </a:rPr>
              <a:t>stays LOW  (latched)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68496"/>
            <a:ext cx="11091672" cy="640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968496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C9D1D9"/>
                </a:solidFill>
                <a:latin typeface="Calibri"/>
              </a:rPr>
              <a:t>N-pole magnet near sensor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968496"/>
            <a:ext cx="56967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7EE787"/>
                </a:solidFill>
                <a:latin typeface="Consolas"/>
              </a:rPr>
              <a:t>line released 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81728"/>
            <a:ext cx="11091672" cy="640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681728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C9D1D9"/>
                </a:solidFill>
                <a:latin typeface="Calibri"/>
              </a:rPr>
              <a:t>Magnet removed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4681728"/>
            <a:ext cx="569671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7B72"/>
                </a:solidFill>
                <a:latin typeface="Consolas"/>
              </a:rPr>
              <a:t>stays HIGH  (latched)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0883E"/>
                </a:solidFill>
                <a:latin typeface="Calibri"/>
              </a:rPr>
              <a:t>MGH201A1T3  is a bipolar LATCH,  not a switch.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554480" cy="411480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554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Trebuchet MS"/>
              </a:rPr>
              <a:t>WAR  STORY  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114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The fix:  remove SOS Morse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8686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HALL_LED now follows the sensor's latched state directly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920240"/>
            <a:ext cx="9784080" cy="25603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9418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58A6FF"/>
                </a:solidFill>
                <a:latin typeface="Trebuchet MS"/>
              </a:rPr>
              <a:t>One polarity  →  LED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418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58A6FF"/>
                </a:solidFill>
                <a:latin typeface="Trebuchet MS"/>
              </a:rPr>
              <a:t>Reverse polarity  →  LED 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418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58A6FF"/>
                </a:solidFill>
                <a:latin typeface="Trebuchet MS"/>
              </a:rPr>
              <a:t>Remove magnet  →  state held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54880"/>
            <a:ext cx="11091672" cy="1371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4864608"/>
            <a:ext cx="10762488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7EE787"/>
                </a:solidFill>
                <a:latin typeface="Consolas"/>
              </a:rPr>
              <a:t>-  checkSosMorse();</a:t>
            </a:r>
          </a:p>
          <a:p>
            <a:pPr algn="l"/>
            <a:r>
              <a:rPr sz="1400" b="0" i="0">
                <a:solidFill>
                  <a:srgbClr val="7EE787"/>
                </a:solidFill>
                <a:latin typeface="Consolas"/>
              </a:rPr>
              <a:t>+  CLED_State[HALL_LED] = hallDebounced ? ON : OFF;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554480" cy="411480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554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Trebuchet MS"/>
              </a:rPr>
              <a:t>WAR  STORY 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114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Console dies on light sleep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8686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USB Serial / JTAG on the ESP32-C3 is an on-chip peripheral, not an FTDI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91672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09728" cy="960120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928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7EE787"/>
                </a:solidFill>
                <a:latin typeface="Trebuchet MS"/>
              </a:rPr>
              <a:t>AWAKE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onsolas"/>
              </a:rPr>
              <a:t>host sees device,  COM7 open in PuTTY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07792"/>
            <a:ext cx="11091672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907792"/>
            <a:ext cx="109728" cy="960120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0883E"/>
                </a:solidFill>
                <a:latin typeface="Trebuchet MS"/>
              </a:rPr>
              <a:t>LIGHT SLEEP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10712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onsolas"/>
              </a:rPr>
              <a:t>USB peripheral powers DOWN → host sees DISCONNECT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32504"/>
            <a:ext cx="11091672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032504"/>
            <a:ext cx="109728" cy="960120"/>
          </a:xfrm>
          <a:prstGeom prst="rect">
            <a:avLst/>
          </a:prstGeom>
          <a:solidFill>
            <a:srgbClr val="FF7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14223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7B72"/>
                </a:solidFill>
                <a:latin typeface="Trebuchet MS"/>
              </a:rPr>
              <a:t>WAKE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35424"/>
            <a:ext cx="10634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onsolas"/>
              </a:rPr>
              <a:t>device re-enumerates → maybe new COM port,  PuTTY session dead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29200"/>
            <a:ext cx="11091672" cy="1417320"/>
          </a:xfrm>
          <a:prstGeom prst="rect">
            <a:avLst/>
          </a:prstGeom>
          <a:solidFill>
            <a:srgbClr val="161B22"/>
          </a:solidFill>
          <a:ln w="15875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  <a:latin typeface="Trebuchet MS"/>
              </a:rPr>
              <a:t>Workarounds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onsolas"/>
              </a:rPr>
              <a:t>①  Unplug + replug USB to force a clean enumeration before flashing.
②  Hold BTN1 (= GPIO 9 boot strap) while plugging in to force ROM bootloader.
③  Set  BADGE_DEBUG_NO_SLEEP = 1  while you're actively monitoring.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554480" cy="411480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554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Trebuchet MS"/>
              </a:rPr>
              <a:t>WAR  STORY  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114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NFC silently dies after the first sleep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8686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The ST25R3911B's protocol state drifts during the SPI silence of light sleep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5486400" cy="4023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0883E"/>
                </a:solidFill>
                <a:latin typeface="Trebuchet MS"/>
              </a:rPr>
              <a:t>Symptom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0292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1.  Boot.  Scan tag.  Works.
2.  Idle 60 s → light sleep.
3.  Press BTN2 → wake.
4.  Scan tag → no response.
No error logged.  Just silence.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78308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58A6FF"/>
                </a:solidFill>
                <a:latin typeface="Calibri"/>
              </a:rPr>
              <a:t>Fix — re-init NFC after every wake: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194560"/>
            <a:ext cx="5394960" cy="3657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2304288"/>
            <a:ext cx="5065776" cy="3438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onsolas"/>
              </a:rPr>
              <a:t>// inside our wake-up handler: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ReturnCode err = rfal_nfc.rfalNfcInitialize();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if (err == ERR_NONE) {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    rfst25r3911b.st25r3911WriteRegister(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        0x2A, 0xF8);   // restore TX power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    state = BADGE_WAIT_FOR_BUTTON;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    ESP_LOGI(TAG, "NFC re-init OK");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} else {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    ESP_LOGW(TAG, "NFC re-init FAILED");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554480" cy="411480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554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Trebuchet MS"/>
              </a:rPr>
              <a:t>WAR  STORY  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114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Brownout on coin cells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8686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Supply can't deliver the NFC inrush.  Chip resets in a loop.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993392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7EE7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993392" cy="1188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7EE787"/>
                </a:solidFill>
                <a:latin typeface="Trebuchet MS"/>
              </a:rPr>
              <a:t>Light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828800"/>
            <a:ext cx="146304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8B949E"/>
                </a:solidFill>
                <a:latin typeface="Trebuchet M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2" y="1828800"/>
            <a:ext cx="1993392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7EE7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24912" y="1828800"/>
            <a:ext cx="1993392" cy="1188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7EE787"/>
                </a:solidFill>
                <a:latin typeface="Trebuchet MS"/>
              </a:rPr>
              <a:t>BadgeState
restore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1828800"/>
            <a:ext cx="146304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8B949E"/>
                </a:solidFill>
                <a:latin typeface="Trebuchet MS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01184" y="1828800"/>
            <a:ext cx="1993392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01184" y="1828800"/>
            <a:ext cx="1993392" cy="1188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F0883E"/>
                </a:solidFill>
                <a:latin typeface="Trebuchet MS"/>
              </a:rPr>
              <a:t>NFC init →
current spike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2864" y="1828800"/>
            <a:ext cx="146304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8B949E"/>
                </a:solidFill>
                <a:latin typeface="Trebuchet MS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77456" y="1828800"/>
            <a:ext cx="1993392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77456" y="1828800"/>
            <a:ext cx="1993392" cy="1188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FF7B72"/>
                </a:solidFill>
                <a:latin typeface="Trebuchet MS"/>
              </a:rPr>
              <a:t>VDD sags
&lt; 2.51 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1828800"/>
            <a:ext cx="146304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8B949E"/>
                </a:solidFill>
                <a:latin typeface="Trebuchet MS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53728" y="1828800"/>
            <a:ext cx="1993392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53728" y="1828800"/>
            <a:ext cx="1993392" cy="11887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FF7B72"/>
                </a:solidFill>
                <a:latin typeface="Trebuchet MS"/>
              </a:rPr>
              <a:t>Brownout
reset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5468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7B72"/>
                </a:solidFill>
                <a:latin typeface="Trebuchet MS"/>
              </a:rPr>
              <a:t>↻  repeat forever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03320"/>
            <a:ext cx="11091672" cy="21945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840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  <a:latin typeface="Trebuchet MS"/>
              </a:rPr>
              <a:t>The numbers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206240"/>
            <a:ext cx="1069848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• 2 × CR2032 in parallel ≈ 20 Ω internal resistance.
• ESP32-C3 brownout-detect threshold ≈ 2.51 V.
• ST25R3911B oscillator + analog FE inrush  &gt;  what the cells can deliver.
• Supply sags below 2.5 V → BOD trips → chip resets → repeat.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554480" cy="411480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554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Trebuchet MS"/>
              </a:rPr>
              <a:t>WAR  STORY  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114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The compromise:  a compile flag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8686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On USB:  full firmware.   On coin cells:  skip the expensive boot path.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91672" cy="1920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892808"/>
            <a:ext cx="10762488" cy="170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onsolas"/>
              </a:rPr>
              <a:t>// project_pins.h</a:t>
            </a:r>
          </a:p>
          <a:p>
            <a:pPr algn="l"/>
            <a:r>
              <a:rPr sz="1300" b="0" i="0">
                <a:solidFill>
                  <a:srgbClr val="8B949E"/>
                </a:solidFill>
                <a:latin typeface="Consolas"/>
              </a:rPr>
              <a:t>#define BADGE_LOW_POWER   0    // 1 = battery-friendly mode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</a:t>
            </a:r>
          </a:p>
          <a:p>
            <a:pPr algn="l"/>
            <a:r>
              <a:rPr sz="1300" b="0" i="0">
                <a:solidFill>
                  <a:srgbClr val="8B949E"/>
                </a:solidFill>
                <a:latin typeface="Consolas"/>
              </a:rPr>
              <a:t>// main.cpp</a:t>
            </a:r>
          </a:p>
          <a:p>
            <a:pPr algn="l"/>
            <a:r>
              <a:rPr sz="1300" b="0" i="0">
                <a:solidFill>
                  <a:srgbClr val="8B949E"/>
                </a:solidFill>
                <a:latin typeface="Consolas"/>
              </a:rPr>
              <a:t>#if !BADGE_LOW_POWER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err = rfal_nfc.rfalNfcInitialize();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rfst25r3911b.st25r3911WriteRegister(0x2A, 0xF8);</a:t>
            </a:r>
          </a:p>
          <a:p>
            <a:pPr algn="l"/>
            <a:r>
              <a:rPr sz="1300" b="0" i="0">
                <a:solidFill>
                  <a:srgbClr val="8B949E"/>
                </a:solidFill>
                <a:latin typeface="Consolas"/>
              </a:rPr>
              <a:t>#else</a:t>
            </a:r>
          </a:p>
          <a:p>
            <a:pPr algn="l"/>
            <a:r>
              <a:rPr sz="1300" b="0" i="0">
                <a:solidFill>
                  <a:srgbClr val="7EE787"/>
                </a:solidFill>
                <a:latin typeface="Consolas"/>
              </a:rPr>
              <a:t>    ESP_LOGW(TAG, "BADGE_LOW_POWER=1 — NFC SKIPPED (battery mode)");</a:t>
            </a:r>
          </a:p>
          <a:p>
            <a:pPr algn="l"/>
            <a:r>
              <a:rPr sz="1300" b="0" i="0">
                <a:solidFill>
                  <a:srgbClr val="8B949E"/>
                </a:solidFill>
                <a:latin typeface="Consolas"/>
              </a:rPr>
              <a:t>#endif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31920"/>
            <a:ext cx="5440680" cy="21945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58A6FF"/>
                </a:solidFill>
                <a:latin typeface="Trebuchet MS"/>
              </a:rPr>
              <a:t>On USB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51206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•  CPU at 160 MHz
•  NFC initialized at max TX power
•  Default brightness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931920"/>
            <a:ext cx="5422392" cy="219456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0883E"/>
                </a:solidFill>
                <a:latin typeface="Trebuchet MS"/>
              </a:rPr>
              <a:t>On coin cells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480560"/>
            <a:ext cx="51206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•  CPU at 80 MHz
•  NFC initialization skipped
•  Lower boot brightness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WiFi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Long-press BTN2 → badge becomes an open AP.  Phone gets a captive portal.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91672" cy="731520"/>
          </a:xfrm>
          <a:prstGeom prst="rect">
            <a:avLst/>
          </a:prstGeom>
          <a:solidFill>
            <a:srgbClr val="161B22"/>
          </a:solidFill>
          <a:ln w="15875">
            <a:solidFill>
              <a:srgbClr val="7EE7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7EE787"/>
                </a:solidFill>
                <a:latin typeface="Consolas"/>
              </a:rPr>
              <a:t>SSID:  BSidesBadge-XXXX     (open, last 4 hex of MAC)        ·        http://192.168.4.1/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88920"/>
            <a:ext cx="11091672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822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Consolas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88920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EE787"/>
                </a:solidFill>
                <a:latin typeface="Consolas"/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788920"/>
            <a:ext cx="6400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live control panel  (sensors, LEDs, brightness)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73552"/>
            <a:ext cx="11091672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273552"/>
            <a:ext cx="822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Consolas"/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73552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EE787"/>
                </a:solidFill>
                <a:latin typeface="Consolas"/>
              </a:rPr>
              <a:t>/api/state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3273552"/>
            <a:ext cx="6400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JSON snapshot — polled by the panel @ 2 Hz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58184"/>
            <a:ext cx="11091672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758184"/>
            <a:ext cx="822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0883E"/>
                </a:solidFill>
                <a:latin typeface="Consolas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58184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EE787"/>
                </a:solidFill>
                <a:latin typeface="Consolas"/>
              </a:rPr>
              <a:t>/api/color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758184"/>
            <a:ext cx="6400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set RGB[slot] from the phone, 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42816"/>
            <a:ext cx="11091672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242816"/>
            <a:ext cx="822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0883E"/>
                </a:solidFill>
                <a:latin typeface="Consolas"/>
              </a:rP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42816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EE787"/>
                </a:solidFill>
                <a:latin typeface="Consolas"/>
              </a:rPr>
              <a:t>/api/brightness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242816"/>
            <a:ext cx="6400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set FastLED brightness 0..255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27448"/>
            <a:ext cx="11091672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727448"/>
            <a:ext cx="822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Consolas"/>
              </a:rPr>
              <a:t>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727448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EE787"/>
                </a:solidFill>
                <a:latin typeface="Consolas"/>
              </a:rPr>
              <a:t>/ctf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727448"/>
            <a:ext cx="6400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challenge landing page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12080"/>
            <a:ext cx="11091672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212080"/>
            <a:ext cx="822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Consolas"/>
              </a:rPr>
              <a:t>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212080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EE787"/>
                </a:solidFill>
                <a:latin typeface="Consolas"/>
              </a:rPr>
              <a:t>/ctf/login  + 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5212080"/>
            <a:ext cx="6400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intentionally-vulnerable login form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696712"/>
            <a:ext cx="11091672" cy="43891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5696712"/>
            <a:ext cx="822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Consolas"/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696712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EE787"/>
                </a:solidFill>
                <a:latin typeface="Consolas"/>
              </a:rPr>
              <a:t>/ctf/dashboard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5696712"/>
            <a:ext cx="6400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role-gated by a cookie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The CTF — a cookie-tampering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Edit the auth cookie to escalate from  guest  to  admin.  Solving it flashes your badge.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  <a:latin typeface="Trebuchet MS"/>
              </a:rPr>
              <a:t>What the browser sends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548640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04288"/>
            <a:ext cx="5157216" cy="2066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GET /ctf/dashboard HTTP/1.1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Host: 192.168.4.1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Cookie: auth=guest        ←  edit me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 </a:t>
            </a:r>
          </a:p>
          <a:p>
            <a:pPr algn="l"/>
            <a:r>
              <a:rPr sz="1200" b="0" i="0">
                <a:solidFill>
                  <a:srgbClr val="8B949E"/>
                </a:solidFill>
                <a:latin typeface="Consolas"/>
              </a:rPr>
              <a:t>// then change to auth=admin</a:t>
            </a:r>
          </a:p>
          <a:p>
            <a:pPr algn="l"/>
            <a:r>
              <a:rPr sz="1200" b="0" i="0">
                <a:solidFill>
                  <a:srgbClr val="8B949E"/>
                </a:solidFill>
                <a:latin typeface="Consolas"/>
              </a:rPr>
              <a:t>// in DevTools and refresh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0883E"/>
                </a:solidFill>
                <a:latin typeface="Trebuchet MS"/>
              </a:rPr>
              <a:t>What the server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94560"/>
            <a:ext cx="5394960" cy="2286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304288"/>
            <a:ext cx="5065776" cy="2066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onsolas"/>
              </a:rPr>
              <a:t>// no signing, no encryption,</a:t>
            </a:r>
          </a:p>
          <a:p>
            <a:pPr algn="l"/>
            <a:r>
              <a:rPr sz="1200" b="0" i="0">
                <a:solidFill>
                  <a:srgbClr val="8B949E"/>
                </a:solidFill>
                <a:latin typeface="Consolas"/>
              </a:rPr>
              <a:t>// no server-side session.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bool is_admin =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  strstr(cookie, "auth=admin") != nullptr;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 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if (is_admin) {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    s_flag_captured.store(true);</a:t>
            </a:r>
          </a:p>
          <a:p>
            <a:pPr algn="l"/>
            <a:r>
              <a:rPr sz="1200" b="0" i="0">
                <a:solidFill>
                  <a:srgbClr val="7EE787"/>
                </a:solidFill>
                <a:latin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00600"/>
            <a:ext cx="11091672" cy="1280160"/>
          </a:xfrm>
          <a:prstGeom prst="rect">
            <a:avLst/>
          </a:prstGeom>
          <a:solidFill>
            <a:srgbClr val="161B22"/>
          </a:solidFill>
          <a:ln w="22225">
            <a:solidFill>
              <a:srgbClr val="7EE7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7EE787"/>
                </a:solidFill>
                <a:latin typeface="Consolas"/>
              </a:rPr>
              <a:t>FLAG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7EE787"/>
                </a:solidFill>
                <a:latin typeface="Consolas"/>
              </a:rPr>
              <a:t>BSIDES{cookies_are_not_credentials}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What you get when you clone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Three buildable entry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611880" cy="4114800"/>
          </a:xfrm>
          <a:prstGeom prst="rect">
            <a:avLst/>
          </a:prstGeom>
          <a:solidFill>
            <a:srgbClr val="161B22"/>
          </a:solidFill>
          <a:ln w="19050">
            <a:solidFill>
              <a:srgbClr val="7EE7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11880" cy="411480"/>
          </a:xfrm>
          <a:prstGeom prst="rect">
            <a:avLst/>
          </a:prstGeom>
          <a:solidFill>
            <a:srgbClr val="7EE7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3611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Consolas"/>
              </a:rPr>
              <a:t>firmware (main/)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1546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The full workshop firmware.
What's on your badge right now.
Build with  idf.py build  from the root.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611880" cy="41148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611880" cy="4114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828800"/>
            <a:ext cx="3611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Consolas"/>
              </a:rPr>
              <a:t>starter-template/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31546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Blank canvas.
Hardware boots, light show plays,
the main loop is empty.  Your sandbox.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3611880" cy="41148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611880" cy="411480"/>
          </a:xfrm>
          <a:prstGeom prst="rect">
            <a:avLst/>
          </a:prstGeom>
          <a:solidFill>
            <a:srgbClr val="F08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611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Consolas"/>
              </a:rPr>
              <a:t>prebuilt/2025-production/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468880"/>
            <a:ext cx="315468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Original 2025 firmware as  .bin  files.
Restore the badge without
needing ESP-IDF installed.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Build &amp; flash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Five commands.  First build is slow.  Subsequent builds are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91672" cy="2743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10762488" cy="2523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7EE787"/>
                </a:solidFill>
                <a:latin typeface="Consolas"/>
              </a:rPr>
              <a:t>git clone https://github.com/maltchev/bsides-vancouver-badge.git</a:t>
            </a:r>
          </a:p>
          <a:p>
            <a:pPr algn="l"/>
            <a:r>
              <a:rPr sz="1500" b="0" i="0">
                <a:solidFill>
                  <a:srgbClr val="7EE787"/>
                </a:solidFill>
                <a:latin typeface="Consolas"/>
              </a:rPr>
              <a:t>cd bsides-vancouver-badge</a:t>
            </a:r>
          </a:p>
          <a:p>
            <a:pPr algn="l"/>
            <a:r>
              <a:rPr sz="1500" b="0" i="0">
                <a:solidFill>
                  <a:srgbClr val="7EE787"/>
                </a:solidFill>
                <a:latin typeface="Consolas"/>
              </a:rPr>
              <a:t> </a:t>
            </a:r>
          </a:p>
          <a:p>
            <a:pPr algn="l"/>
            <a:r>
              <a:rPr sz="1500" b="0" i="0">
                <a:solidFill>
                  <a:srgbClr val="7EE787"/>
                </a:solidFill>
                <a:latin typeface="Consolas"/>
              </a:rPr>
              <a:t>idf.py set-target esp32c3</a:t>
            </a:r>
          </a:p>
          <a:p>
            <a:pPr algn="l"/>
            <a:r>
              <a:rPr sz="1500" b="0" i="0">
                <a:solidFill>
                  <a:srgbClr val="7EE787"/>
                </a:solidFill>
                <a:latin typeface="Consolas"/>
              </a:rPr>
              <a:t>idf.py build</a:t>
            </a:r>
          </a:p>
          <a:p>
            <a:pPr algn="l"/>
            <a:r>
              <a:rPr sz="1500" b="0" i="0">
                <a:solidFill>
                  <a:srgbClr val="7EE787"/>
                </a:solidFill>
                <a:latin typeface="Consolas"/>
              </a:rPr>
              <a:t>idf.py -p &lt;PORT&gt; flash monitor      # COM7 on Windows, /dev/ttyACM0 on Linux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00600"/>
            <a:ext cx="11091672" cy="1325880"/>
          </a:xfrm>
          <a:prstGeom prst="rect">
            <a:avLst/>
          </a:prstGeom>
          <a:solidFill>
            <a:srgbClr val="161B22"/>
          </a:solidFill>
          <a:ln w="15875">
            <a:solidFill>
              <a:srgbClr val="FF7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937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7B72"/>
                </a:solidFill>
                <a:latin typeface="Trebuchet MS"/>
              </a:rPr>
              <a:t>If flash fails with  "Failed to connect: No serial data received"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4924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onsolas"/>
              </a:rPr>
              <a:t>①  Unplug + replug USB and try again.
②  Or hold BTN1 while plugging USB in (GPIO 9 is the boot strap → forces ROM bootloader).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Idea menu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docs/WORKSHOP.md has the full list and pointers to answer keys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36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91672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554480" cy="530352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1800" b="1" i="0">
                <a:solidFill>
                  <a:srgbClr val="F0883E"/>
                </a:solidFill>
                <a:latin typeface="Consolas"/>
              </a:rPr>
              <a:t>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828800"/>
            <a:ext cx="9326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C9D1D9"/>
                </a:solidFill>
                <a:latin typeface="Calibri"/>
              </a:rPr>
              <a:t>Cycle RGB[0] colour on each BTN1 press.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1091672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1554480" cy="530352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1800" b="1" i="0">
                <a:solidFill>
                  <a:srgbClr val="F0883E"/>
                </a:solidFill>
                <a:latin typeface="Consolas"/>
              </a:rP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423160"/>
            <a:ext cx="9326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C9D1D9"/>
                </a:solidFill>
                <a:latin typeface="Calibri"/>
              </a:rPr>
              <a:t>Light an indicator LED while a magnet is held.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1672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1554480" cy="530352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1800" b="1" i="0">
                <a:solidFill>
                  <a:srgbClr val="F0883E"/>
                </a:solidFill>
                <a:latin typeface="Consolas"/>
              </a:rPr>
              <a:t>★★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017520"/>
            <a:ext cx="9326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C9D1D9"/>
                </a:solidFill>
                <a:latin typeface="Calibri"/>
              </a:rPr>
              <a:t>Map ambient light → LED brightness in real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11091672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611880"/>
            <a:ext cx="1554480" cy="530352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1800" b="1" i="0">
                <a:solidFill>
                  <a:srgbClr val="F0883E"/>
                </a:solidFill>
                <a:latin typeface="Consolas"/>
              </a:rPr>
              <a:t>★★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611880"/>
            <a:ext cx="9326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C9D1D9"/>
                </a:solidFill>
                <a:latin typeface="Calibri"/>
              </a:rPr>
              <a:t>Write a new NFC tag with TagWriter, scan it, see it dispatch.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11091672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206240"/>
            <a:ext cx="1554480" cy="530352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1800" b="1" i="0">
                <a:solidFill>
                  <a:srgbClr val="F0883E"/>
                </a:solidFill>
                <a:latin typeface="Consolas"/>
              </a:rPr>
              <a:t>★★★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206240"/>
            <a:ext cx="9326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C9D1D9"/>
                </a:solidFill>
                <a:latin typeface="Calibri"/>
              </a:rPr>
              <a:t>Add a new NFC command  (case 'H': ...)  to ndefReadTag().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00600"/>
            <a:ext cx="11091672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800600"/>
            <a:ext cx="1554480" cy="530352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1800" b="1" i="0">
                <a:solidFill>
                  <a:srgbClr val="F0883E"/>
                </a:solidFill>
                <a:latin typeface="Consolas"/>
              </a:rPr>
              <a:t>★★★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800600"/>
            <a:ext cx="9326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C9D1D9"/>
                </a:solidFill>
                <a:latin typeface="Calibri"/>
              </a:rPr>
              <a:t>Add a /api/celebrate endpoint to wifi_portal.cpp.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94960"/>
            <a:ext cx="11091672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554480" cy="530352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1800" b="1" i="0">
                <a:solidFill>
                  <a:srgbClr val="F0883E"/>
                </a:solidFill>
                <a:latin typeface="Consolas"/>
              </a:rPr>
              <a:t>★★★★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394960"/>
            <a:ext cx="93268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C9D1D9"/>
                </a:solidFill>
                <a:latin typeface="Calibri"/>
              </a:rPr>
              <a:t>Replace the captive-portal CTF with your own challenge.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Calibri"/>
              </a:rPr>
              <a:t>The Last-Minute Badge That Actually Worked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Trebuchet MS"/>
              </a:rPr>
              <a:t>Thanks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8B949E"/>
                </a:solidFill>
                <a:latin typeface="Calibri"/>
              </a:rPr>
              <a:t>Open source, MIT licensed.   Pull requests welcome.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11091672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7EE787"/>
                </a:solidFill>
                <a:latin typeface="Consolas"/>
              </a:rPr>
              <a:t>❯  github.com/maltchev/bsides-vancouver-badge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11880"/>
            <a:ext cx="3611880" cy="21945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3611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dirty="0">
                <a:solidFill>
                  <a:srgbClr val="58A6FF"/>
                </a:solidFill>
                <a:latin typeface="Consolas"/>
              </a:rPr>
              <a:t>ORIGINAL</a:t>
            </a:r>
            <a:r>
              <a:rPr lang="en-US" sz="1100" b="1" i="0" dirty="0">
                <a:solidFill>
                  <a:srgbClr val="58A6FF"/>
                </a:solidFill>
                <a:latin typeface="Consolas"/>
              </a:rPr>
              <a:t> DESIGN AND FIRMWARE</a:t>
            </a:r>
            <a:r>
              <a:rPr sz="1100" b="1" i="0" dirty="0">
                <a:solidFill>
                  <a:srgbClr val="58A6FF"/>
                </a:solidFill>
                <a:latin typeface="Consolas"/>
              </a:rPr>
              <a:t>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3611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Sandy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3611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3611880"/>
            <a:ext cx="3611880" cy="21945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379476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dirty="0">
                <a:solidFill>
                  <a:srgbClr val="58A6FF"/>
                </a:solidFill>
                <a:latin typeface="Consolas"/>
              </a:rPr>
              <a:t>HARDWARE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206240"/>
            <a:ext cx="3611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Kirk Richardson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611880"/>
            <a:ext cx="3611880" cy="21945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3794760"/>
            <a:ext cx="3611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dirty="0">
                <a:solidFill>
                  <a:srgbClr val="58A6FF"/>
                </a:solidFill>
                <a:latin typeface="Consolas"/>
              </a:rPr>
              <a:t>FIRMWARE</a:t>
            </a:r>
            <a:r>
              <a:rPr lang="en-US" sz="1100" b="1" i="0" dirty="0">
                <a:solidFill>
                  <a:srgbClr val="58A6FF"/>
                </a:solidFill>
                <a:latin typeface="Consolas"/>
              </a:rPr>
              <a:t> 2.0</a:t>
            </a:r>
            <a:endParaRPr sz="1100" b="1" i="0" dirty="0">
              <a:solidFill>
                <a:srgbClr val="58A6FF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38160" y="4206240"/>
            <a:ext cx="3611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Nick Maltchev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2622</Words>
  <Application>Microsoft Office PowerPoint</Application>
  <PresentationFormat>Widescreen</PresentationFormat>
  <Paragraphs>391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Nick Maltchev</cp:lastModifiedBy>
  <cp:revision>2</cp:revision>
  <dcterms:created xsi:type="dcterms:W3CDTF">2013-01-27T09:14:16Z</dcterms:created>
  <dcterms:modified xsi:type="dcterms:W3CDTF">2026-05-29T19:08:11Z</dcterms:modified>
  <cp:category/>
</cp:coreProperties>
</file>